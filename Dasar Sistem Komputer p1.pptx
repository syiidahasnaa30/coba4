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1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A518E-FD0D-4B9C-9765-5006E3D29148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3C45F-0C54-4A78-8A50-EC2D91C6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2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A518E-FD0D-4B9C-9765-5006E3D29148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3C45F-0C54-4A78-8A50-EC2D91C6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7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A518E-FD0D-4B9C-9765-5006E3D29148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3C45F-0C54-4A78-8A50-EC2D91C6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6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A518E-FD0D-4B9C-9765-5006E3D29148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3C45F-0C54-4A78-8A50-EC2D91C6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28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A518E-FD0D-4B9C-9765-5006E3D29148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3C45F-0C54-4A78-8A50-EC2D91C6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A518E-FD0D-4B9C-9765-5006E3D29148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3C45F-0C54-4A78-8A50-EC2D91C6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94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A518E-FD0D-4B9C-9765-5006E3D29148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3C45F-0C54-4A78-8A50-EC2D91C6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5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A518E-FD0D-4B9C-9765-5006E3D29148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3C45F-0C54-4A78-8A50-EC2D91C6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57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A518E-FD0D-4B9C-9765-5006E3D29148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3C45F-0C54-4A78-8A50-EC2D91C6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55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A518E-FD0D-4B9C-9765-5006E3D29148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3C45F-0C54-4A78-8A50-EC2D91C6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01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A518E-FD0D-4B9C-9765-5006E3D29148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3C45F-0C54-4A78-8A50-EC2D91C6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27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A518E-FD0D-4B9C-9765-5006E3D29148}" type="datetimeFigureOut">
              <a:rPr lang="en-US" smtClean="0"/>
              <a:t>9/10/2019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3C45F-0C54-4A78-8A50-EC2D91C6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6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Dasar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Komputer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Pertemuan</a:t>
            </a:r>
            <a:r>
              <a:rPr lang="en-US" dirty="0" smtClean="0"/>
              <a:t>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10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digital ?</a:t>
            </a:r>
          </a:p>
          <a:p>
            <a:r>
              <a:rPr lang="en-US" dirty="0" smtClean="0"/>
              <a:t>Analog </a:t>
            </a:r>
            <a:r>
              <a:rPr lang="en-US" dirty="0" err="1" smtClean="0"/>
              <a:t>vs</a:t>
            </a:r>
            <a:r>
              <a:rPr lang="en-US" dirty="0" smtClean="0"/>
              <a:t> Digital</a:t>
            </a:r>
          </a:p>
          <a:p>
            <a:r>
              <a:rPr lang="en-US" dirty="0" err="1" smtClean="0"/>
              <a:t>Keuntungan</a:t>
            </a:r>
            <a:r>
              <a:rPr lang="en-US" dirty="0" smtClean="0"/>
              <a:t> &amp; </a:t>
            </a:r>
            <a:r>
              <a:rPr lang="en-US" dirty="0" err="1" smtClean="0"/>
              <a:t>Kerugian</a:t>
            </a:r>
            <a:r>
              <a:rPr lang="en-US" dirty="0" smtClean="0"/>
              <a:t> Digital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584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What is Digital (1/2)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 digital </a:t>
            </a:r>
            <a:r>
              <a:rPr lang="en-US" b="1" smtClean="0"/>
              <a:t>signal</a:t>
            </a:r>
            <a:r>
              <a:rPr lang="en-US" smtClean="0"/>
              <a:t> is a signal that can only have discrete values in time</a:t>
            </a:r>
          </a:p>
          <a:p>
            <a:pPr lvl="1" eaLnBrk="1" hangingPunct="1"/>
            <a:r>
              <a:rPr lang="en-US" smtClean="0"/>
              <a:t>Most common are </a:t>
            </a:r>
            <a:r>
              <a:rPr lang="en-US" b="1" smtClean="0"/>
              <a:t>binary </a:t>
            </a:r>
            <a:r>
              <a:rPr lang="en-US" smtClean="0"/>
              <a:t>digital signals, where only two values are allowed often designated as 0 and 1</a:t>
            </a:r>
          </a:p>
          <a:p>
            <a:pPr eaLnBrk="1" hangingPunct="1"/>
            <a:r>
              <a:rPr lang="en-US" smtClean="0"/>
              <a:t>The opposite is analog signals that can take infinite values</a:t>
            </a:r>
          </a:p>
          <a:p>
            <a:pPr lvl="1" eaLnBrk="1" hangingPunct="1">
              <a:buFontTx/>
              <a:buNone/>
            </a:pPr>
            <a:endParaRPr lang="en-US" smtClean="0"/>
          </a:p>
        </p:txBody>
      </p:sp>
      <p:pic>
        <p:nvPicPr>
          <p:cNvPr id="4104" name="Picture 8" descr="http://www.syscompdesign.com/assets/images/Screenshots/WGM201-Screen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651" y="4001294"/>
            <a:ext cx="4824413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10" descr="http://www.homofaciens.de/bilder/technik/oscilloscope_0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094" y="4001294"/>
            <a:ext cx="4022725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8E220B4-EBBF-454D-B6F8-11197DDC0C9A}" type="slidenum">
              <a:rPr lang="el-GR" sz="1400"/>
              <a:pPr eaLnBrk="1" hangingPunct="1"/>
              <a:t>3</a:t>
            </a:fld>
            <a:endParaRPr lang="el-GR" sz="1400"/>
          </a:p>
        </p:txBody>
      </p:sp>
    </p:spTree>
    <p:extLst>
      <p:ext uri="{BB962C8B-B14F-4D97-AF65-F5344CB8AC3E}">
        <p14:creationId xmlns:p14="http://schemas.microsoft.com/office/powerpoint/2010/main" val="81381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What is Digital (2/2)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 digital </a:t>
            </a:r>
            <a:r>
              <a:rPr lang="en-US" b="1" smtClean="0"/>
              <a:t>system </a:t>
            </a:r>
            <a:r>
              <a:rPr lang="en-US" smtClean="0"/>
              <a:t>processes digital signals</a:t>
            </a:r>
          </a:p>
          <a:p>
            <a:pPr eaLnBrk="1" hangingPunct="1"/>
            <a:r>
              <a:rPr lang="en-US" smtClean="0"/>
              <a:t>Examples: computer, cellphone, DVD, digital camera, etc.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F623E77-5AFE-4F6A-BF9C-E5E56F6D7A53}" type="slidenum">
              <a:rPr lang="el-GR" sz="1400"/>
              <a:pPr eaLnBrk="1" hangingPunct="1"/>
              <a:t>4</a:t>
            </a:fld>
            <a:endParaRPr lang="el-GR" sz="1400"/>
          </a:p>
        </p:txBody>
      </p:sp>
    </p:spTree>
    <p:extLst>
      <p:ext uri="{BB962C8B-B14F-4D97-AF65-F5344CB8AC3E}">
        <p14:creationId xmlns:p14="http://schemas.microsoft.com/office/powerpoint/2010/main" val="311106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Okay, what is a signal then?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2133600" y="1524000"/>
            <a:ext cx="7772400" cy="4114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400"/>
              <a:t>A signal is a physical quantity (sound, light, voltage, current) that carries </a:t>
            </a:r>
            <a:r>
              <a:rPr lang="en-US" sz="2400" b="1"/>
              <a:t>information</a:t>
            </a:r>
          </a:p>
          <a:p>
            <a:pPr lvl="1" eaLnBrk="1" hangingPunct="1"/>
            <a:r>
              <a:rPr lang="en-US"/>
              <a:t>The power cable supplies power but no information (not a signal)</a:t>
            </a:r>
          </a:p>
          <a:p>
            <a:pPr lvl="1" eaLnBrk="1" hangingPunct="1"/>
            <a:r>
              <a:rPr lang="en-US"/>
              <a:t>A USB cable carries information (files)</a:t>
            </a:r>
          </a:p>
          <a:p>
            <a:pPr eaLnBrk="1" hangingPunct="1"/>
            <a:r>
              <a:rPr lang="en-US" sz="2400"/>
              <a:t>Examples of quantities used as digital information signals</a:t>
            </a:r>
          </a:p>
          <a:p>
            <a:pPr lvl="1" eaLnBrk="1" hangingPunct="1"/>
            <a:r>
              <a:rPr lang="en-US"/>
              <a:t>Voltage: 5V (logic 1), 0V (logic 0) in digital circuits</a:t>
            </a:r>
          </a:p>
          <a:p>
            <a:pPr lvl="1" eaLnBrk="1" hangingPunct="1"/>
            <a:r>
              <a:rPr lang="en-US"/>
              <a:t>Magnetic field orientation in magnetic hard disks</a:t>
            </a:r>
          </a:p>
          <a:p>
            <a:pPr lvl="1" eaLnBrk="1" hangingPunct="1"/>
            <a:r>
              <a:rPr lang="en-US"/>
              <a:t>Pits and lands</a:t>
            </a:r>
            <a:r>
              <a:rPr lang="el-GR"/>
              <a:t> </a:t>
            </a:r>
            <a:r>
              <a:rPr lang="en-US"/>
              <a:t>on the CD surface reflect the light from the laser differently, and that difference is encoded as binary data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  <p:sp>
        <p:nvSpPr>
          <p:cNvPr id="9220" name="AutoShape 6" descr="data:image/jpeg;base64,/9j/4AAQSkZJRgABAQAAAQABAAD/2wCEAAkGBxQTEhUUEhQVFhQXGB8aGBgXFhQaGhweHRoXGhcXHB4cHCggHhwlGyAXITEhJSorLi4vGB8zODMsNygtLiwBCgoKDg0OGxAQGjQkICYtNCwsLCw2NCwsLCw0LC80LCwsLC4sLCwsLDQsLCwsLCwsLCwsLCwsLCwsLCwsLCwsLP/AABEIAKIBOAMBIgACEQEDEQH/xAAcAAABBQEBAQAAAAAAAAAAAAAAAgMEBQYHAQj/xABNEAABAwEEBQkCCQgKAQUAAAABAAIRAwQSITEFEyJBUQYHMmFxgZGhsbLBIzNCUnJzgsLwFBdiY6LR0uEkJTRDU1SSk8PTFRZEdIOz/8QAGgEBAAMBAQEAAAAAAAAAAAAAAAECBAUGA//EADERAAIBAQQHBwQDAQAAAAAAAAABAhEDBDFBBRMhUYGx8BQVMzSRodESUmFxJDJCIv/aAAwDAQACEQMRAD8A7ihCEAIQhACEIQAhCEAIQhACEIQAhCEAIQhACEIQAhCEAIQhACEIQAhCEBTPtVoa55uXm3yGjHBjWk3oDJkndJndBwSrJpCu57Q6hdYYxl0jZmTsxE4d4Ua01rYx9QsaKjSdhriIABb81l4TjGL+kThdhxSt9rc282myNwLXAuyI+XhjLZOfSwAukB/8urNLth7jrC27cIa1sv1bmujavNDJxIaX4loBAi/+drt1d+zwajg0AXz/AHIqkdHAzLJMAXXEkQnRbLWHVPgg4FxuCAIAY0xN7EXp2sJ4BItlstsVAyk0bIuPiXSWEl10m6Df2YJN3M3hggEt05aLzpsr7o1YENfMkHWmSAC1roaC2c72IykW6219VSe1jm1HAm41jn7V0llN+zsi9ALjEcQkaYtVsGuFCm3AA0nEXpMC8CL43yNyU+12llJ5c0F+tAYdWTsPrlgBaHyS2ndMyMxIwMgIfpiuQQLNUDgXiLpPRukQTDcZgGYMbkh+nK7WPc+gRdvHKrgBTa8A7OJkkSM4gSQQlm125zoFKkwXszefs36bR8pmN0vfI+bdgESVULXa5bfptyZehpjEPLwBewg3BJJyJAMwgE6Y0hXaym6nTdi1znNDXkyLt1uzSqETtZtHaCILx0tVaHF9Ei6JOLsYfdJaS2DhLgJvHCAZCZFstl34ppcWkjZgTd2RF+QJ4mT+jOFzZXuLdsQ4Z8DBIkYnPOMYlAVdbSVcH4k4ZgB5zjGQ3EDPZnhgQmKWn6zujZXuGsqMlswDTc5oaSQMTE3hLN0rQoQGe0dpiu57Gvovh9WoL2rqNa1jWlzHGWiJwbDsSfBC0KEAIQhACFHtNvpUyBUqU2E4gOe1p7cSoNj05Sq2h1KlVp1IZJDHNJa4XTjB+U17SPolAWyEIKAEKl0dyioOaGVK9EV2NbrW32gtcZBwJwxDsE/W0yy/QbTio2q9zL7HsIaWsc/GDjIaUBZoWds3K2kadao8FjaVV1PC84m6HG8RdESATheGWM4B2wcrLPWqPps1l5msmaboOqIbUA3kyRHHcgL1CzY5bWa7e+EjV6zo7pAu5xekjBFo5aWdrQ8XzTJi9cfBijVrG7AMkCm4EGPSQNIhUuiuU1C0VdVTv37hfi0gbOrvtn5w1lPD9LCcVdIAQhCAEIQgBCEIAQhCAEITNptTKYmo9rATEucGieGKAeQqW08o6Da1KmK1J2skQ17S7NoDsD0QSARntg5Aq6QFJYKNoFocX3rkuxLwWlt59wBt4wQ3V43W5OzzdBr2W3BsNcXEUhi6o1s1IYGgwIF1wqVHOA2g4NggQLJmnqTHijaKtOnXkgNc4NvgAuFRoON0tBO8AhzZJCmf+TolrnNqMdcaXODHNcQBmYBQEJtG0aqqDeLjUBADhJZebfa0zgS2+AZbiR0Ny61OqdXsvujc2o2+DDbrnnAENN8EAvnAw7dEZyqYaVKqabw2pUNMyacsIvEl21iA1rnbMwGk7k5ZOVVnfSpVHONPW3rrXg3tmq2iQYmDrHMH2h1oBhlS33nHVt6DQBeYGktab7m7RILnkXZEXelBGJpelbn03ak3KjrOGxLIbVIcS4TOIwaMY2hOUiRQ5V2R9J9ZtWadOLxuVRF5xY2AWyZcHDAHEFeu5VWQEg1YIe2mdipg5znsaDs4AuY9t7KWkSgEB9tjotEAyBdJONMC6S/5hedqNpsExBLrK1qkXmNE1A3iLt2XvESRBBAvRMiQJhNVOV1la0PNQ6stLg65UxALcQ27JBDgQ4CCFYaO0rSrl4pPvXDDsHDGSMCQJEgiRIwQFW2rbpm4CCWS0mmLovVb5EOMmNSYJiJgyl0n20AXmtcSWzFwXRdp383ZXjV3EwwYYyr5CAEIQgBCEIDDWznPs1Oo9hpVyWOLSQKcS0kGNvLBMHnZsv8Ag2jwpfxrmGnh/SK/11T23KtK+6gjodnhQ687ndsv+DaPCl/2Korc8dhL2PFC0tLXFzoZR2pY5kH4T6J+yFzJyiVLIwmYxU6uJDu8cjtg54LJca7UWnamBFKYBifjMiZ8CkHnksn+BafCj/2LjT5OJ7BwwyAUW2OIaSPximriNRBI7NYudmxsvltntJlxdgyjIBJcQTrMReLzjlehe2rnfsDx8JZa74kgOZQdm0tMTU3tLh2EjeuEUqhaQ5pIcMiMwrS3QSHtAAe0PAGQJEPA7HhynVxKqxg8jqFo5z9E1GFhsVa45+se0UrOGvdxeL8OnfOamt50NGMAe2xVGmoHkxSswJDnEPvbfyiJPGMVxQ0hM+W5KqvJMns6gBkBwATVRCu8TrVPnG0Q1znfkFXaaGkGlZi0AG9AF/CXQ48SAU9+c/RGP9XvxifgLNjDXMHy9zHPb2OcN5XGnJLRJgZpqojUwOy2bnQ0XTrm0MslpbULCzBtEANJaSABU3lrT3dZm2s/PTY3va0ULTLnBoltKMTA/vFwSowtJDgQRmDmndGH4eiP1jfaaodnEq7GND7CQhCzmQEIQgBCEICn5Q8oqdk1esa86yYugbowMkZz5Kqby9oGfg6uAnJnED5yic51K82iPp4cRsSufVHlrYHEDHrIGK6t2ulnOyUpdbTzt/0lb2N4dnB7NmX4Ok/nBof4dbwZ/EvWc4FAmBTrE9jP4lz1rAQeIx7Rv71FoGCW9ZcDx494/cvv2Gx3GPvi9UrVeh0a0curK4EPo1CC0tMtpnZd0m9LIwJHUlWPl3QDGgMruhubtXeIAzO1iYWArsDmk9zu/f37+vtTFlqHf0m7/R3f+9Ow2O4d8XnGq9Dfu5b2V9VrzSrX6cgYUsQ4EfO7YyI2txMya3Luz3caNUtdIOFPvB2uHqub25t0io3LOOr5be7MdgUhgkFvESO0Yz4SO9R2GxpgW73vNcV6Gts3KewMDA2zVYYSW3rroJD2l2084lr3ic4cVHrad0cTSP5NWDaN8sptDAyX1GVi6A/E6xgcBlJmMoxk7TZyJPjGA7M/JS6rJbO9ufWDv7j6qOw2W4d73nevQ2Nm09o7VmmyzVG06gaDdgSA5z24h8jac495UGhpXRrDDrNWcTVLgXXdk3qrmMEPgNbfeAMsccSsnZnRLeuW9hzHcZ7oTlsILjvmJ7YE+adhsdwWl7zt2r0No7TWjgwA2WoWiWgGDAIEtE1MGgBojIAABGh+VVjszqrqdO0HWuvEO1UNzN1oDhAkuPesQxpdgMY/EJsnLiTATsVjuHe953r0O0cneUFO1h5pte24QDeu75ygngrhYfmvZDK/0m+jluFy7xBQtHFHorlbStrCM5Yv5BCEL4moEIQgPnPTrf6TXn/Gqe25ZDSlrdrHNBIDYGGG4GfNau3VS+paJzZaqzO6/eb4S4eCzmlrA4vvsEzmN8jCfD0WpHUq3BNDuirQajHh2LmAOad90kNcDxglsHPNRtLPIDQMice7d+OCkaKsxph7ndJzboHASCSeswB4pvSjZpk8CD5wfIlSRt+lkLR1r1bwTiwmHt3Fu/DjvB4gKfbrPBew4kS3tzEqmV9aTIpu3upsJ7QLp82qWRHGhQNMhWrDes9M/Mc9h74e3zL/AAVY5sEjgT6qx0eZo1hwcx3m5h9oIQshh5hFOkXAlsEgSRO1G8xv7k3at3b7kmyVix7Hj5LgfAoS5MCmGZKfpCkGVajRk17gOyTHlCgtGfaUIZPqG9Z2k503ln2XNvNHcQ//AFJnRvx9E/rG+01O2XGhWHA03ebmn2gkaM+PpfWM9oI8CrwPsBCELGYAQhCAEIQgMRzmOgUPtj2FgG074MYiMuI39q33OdlQ7X/cXPrMbuzvbEHiPkny8Qu9cvAjx5njdLebnw5IUH3QccOJz7PReVqBLZGYOB4HGJ8x4py205F5sCTPUHAgx2H39S9o1RDpnERHh6LUc/BhYaskbgcHDh86ez9yi1TdIdwwPYd/ccfFLe6C0cTHkT7k++mC2RuwI7fwUCFNEtcOG0O7PxHuUVmAgZcPd2JQwEDJN1HQO8DxMKGE8EhNVsggZ7u0YjzhTLHUDoO5wg9U4Hw9yQaIukjMZ9Yy9YTNB13LKZjhJk90yoJ3MRWkYb5A8TCkmiLpImRHeJj1IUeqL0zv/EpetMRxzPFCTyxnMbw4+e0D5kdyXpBkukYTDh1Hf5gpmmYfO4iO8HD1KkWp4IaBuGPiSmRObN9zWvllf6TfRy3KwnNX0K/0m+jlu1wr340usj2GjPKw6zYIQhZjeCEIQHzppemG164GWvquPWXVHSfQdgCrqgTlW2OfbLZTdjdq1XNO8XaplvWIJPVCi6Sr3GF28ZdpIAWlHVg19IFRLY2WOHUfRV9HSb2ukw4b2kCD1YZdoVzaGgHZxaQHN4w4BwnrgqzFa7DMyrx3xVDjq/8AkqEeSYNjZMx3bk9UcTifxwSpCi6lRaRtu7j5BTNEf3w/VT4VKZH7u9FooB2OR4r2lstLRv6R3mMh2dSkq4upGtYw7x+5RypNr6J7vUKMiDxLHSxmoXfOax3+qmxx8yVW7z2+4Ky0j/dHjRZ5Aj3Kt3n8bghGSJ2j+jXH6qfCpSKb0cfhqX1jPbanNGnCv9SfN9OE3o746l9Yz22o8GVeDPsFCELGYAQhCAEIQgMRzmDCh2v+4ufV25OGY8xvHv7QF0XnGGFH7f3FgHBd+47bBLrE8ZpfZfJP9cke0nAtdjhGHbOHlKYJXtJ8kzkDHkD715bad1w3gOnuLTB8wtNTn0qFWnIxkbwezIhLY4kQMeMdScvbH2pHgZ93go9idAHFrj5OMHwhCcEJB2wOqe3EDyw8U7aqQLQcpwMcRBkeXgk2xt2q2MrxHc4Et+6nnYsPUQfEEH3KMUTg6DGtMEccz5pomE5ZyDJIkAxHYkW5l0xwc0915p9FDJSyFGkYnd+M0mgLxM5Ax1zAPvCmNGy8dU+BB9JUJhgkjI5jynwTBkYqqFWhl0mTgMZ6swfBeikYnx4juTVueXNcf0cO4Yein0jM/pNPoSPOELPFG25q+hX+k30ct2sJzV9Cv9Jvo5btcK9+NLrI9jozysOs2CEIWY3AhCEB8tk/1nafrLT/AMp9YSNN/Eu7vaCdDf6xth4PrnxqFv3kzpx0Uj1lo8wtR0of0ZnVpXnYpfVM9mPcs0tNWEBgObadMfsNJ9VZiOJGckOS5kwCJ4SJSHhQfQYqvAzML24S28MWzEg5Hgd471Ctp2+wD3qToY7VQbjSfI7BLfBwBUlHIZtI2SoqnOTLWgGR+O5A0SdIn4sb20mAjgYJjwIUBzcU64ySTid6aLkIapsF603bowBMnr4T2Jej/jqX1rPbavH0DdvghzZgkTgTkCDxxg5YJejPj6X1jPaCPArLBn1lbtJNpVKFNwJNd7mNIiAW0qlUk45XWEYbyFOWQ05Qt1W02aoyz07lmrPf/aGg1A6lVpNPxRumHTEnMjOCrmrpsMqUKVVjm1azZIaQ5rDhgXYE7RuggdZhYznlshZzRvLGjWqMYxlTbq1KIcdXF+my+4GH3ujO7AiDBT1XlfYmxNduM7nnJjKhJgYAMc10ncUBeoQhAY7nDyo/b+4sDWGK3/OFlR+39xYKvmu7cfCXHmeO0yv5EuHJEUNh2eeY7MJ6sIHgnK8zjn7tyZPxn2fepFrHwbex3qVrOalVDTGyJGITVLBzhxII8APGQfFSNH/I62x4thNoMEeaQM4jGLuX6N2Y7gU61wuuxwIEdeIKaJRdwmMEoTWo3Zs3/SB/Zb+5e6Wycf0AfBg94XlDpOHUD6j3Jy3tmGneyD3z7iqvAtHH0H6R6X0XehUKl0/syPGCnadYgGYmIndjmU1R6f2ffj7lOLIWyNB+2slrTvILT1xGPgY7k5ox06s8QPRJtRgMHafEx7vNM2WqWADOBA90qN5bc/0dA5quhX+k30ct2sJzV9Cv9Jvo5aHk/pUvsz61dzQG1rQ0uMNAbStFam2exjW4rhXvxpdZHsdGeVh1my6Qo7bdTJpgVGE1QXUxeG2AASW8QAQcOIUhZjcCEIQHzfpCyinaLURi59eoXHq1jiGjqnHrgKvttEPaWnI/gFXOnwPyisRiDUef23AjuIIVLarQ1vSIC0o60afSVdHRMOl5BaNwkT1HgpltrmHvOeJTzXBzbzSC3KRjjwPA9RUDSj4pnrIHnj5SrEbEqop4V7UeXU6TndIsxO8w97Wk9d0Adyolf2kQGN3tpsB7SA4+bipZSOJAtNAOxyK9oi40gfKzO+M7vZMHuCjOtZnCI6wprodTbUaIklrhuBABBG+CD3EHqQmqbItZ8BeWaq0kCoNk/KGbeuMiOpJtQw7D+8JFlpX3AYATiTkBvJ7kIb2jtooljnNdm0kGOo+ii7z2+4KZba1+o94yc4kdhOHkorm4oGS7D8XXO640d5qMI74DvNI0Z8dS+sZ7QTJqG6G7pmOvietO6NPw9H6xntBGVeDPsFU2m2WS/TfaXsY8B1wuqmmYPSiHCYwM7jiIVLygoWtlqsrKdurtp2mtUa4XbHsAUatVrWTZiSBciXEmAM5kXGlOTNK0ta20F9Qtp3C6Q0um7ecboDZJE4ADgAsZzyLZ7JYKNQFl0VGvc8M1rpvE6gvuF8YDYGGAwEKDo/Q2itWGipSqwC0vNeSb9PVumHRjTpxAgAMMRCua3Jig55eQ68XXukc9ZrPaUJnISyBjWAVAGxG2fktqtA8Kjx3jggLyx6To1S5tKrTe5vSDHtcR2gHBS1UaI5OULM91SkHBz2hplxODWtaPJrVboDH84WVH7f3Fga+a3vOJlR+39xYGqcV3bh4S48zx2mX/ACZcOSIp6c7i0AdoJJ9R4J22GWhozDT4mf5LyzPBxIwJwjOJie/NeVxdJGcGO3FazmqqF2N4ieDd+eUAdqaY6SRwz9fSPFOOp4TmMuz8e5M2bEE8XHy2R6JmHge2ykYIGORHWMD6J5lUXXdYgccwfck21+2Gjjdn6IxPl5r2pTF28OMH1UFsGMNbJwzHkkVyWhxMyASRvwS7PgXTvMzuyA9y9thDnO4HDuiFDJVBynQBBnMCZ3YZhRiE62qQInqnfCRSEkjhn3/yTMZCK1TAk4wJ8FKo0QRBzukz1gT4Jq0UrpjMET3ELym8gQDhEdccFBJteb6xuq0qzWV6tAh7DepCiXEXXi6dbTeIxnKcBjmr3R/IsUaNSjTtVc033iGPbZrjXufrDUinRY4m9OF6IMCIEUfN7YddSrNL6tOHsM0nljui8QSN2OXUFYcl9GVqtlqufaaxquqWiiCary0BloqU2kDAhwawCZnxXDvfjS6yPY6M8rDrNllZeTLWVbO81iX0GOa1sNAc0tLThiRtOmQfmgzAVJo/kBepUdbaJqU2w64LzQ8UW0SASZJa5odOBvCYGQlnkhadWGflj/l4zVnaFO7jfnZLSc/lJf8A6UtOtFT8sdAdN0GoB/aXViID4M0jq8R+5ZjcbFCxFDkja/gi+2uLmGmTDqsODL18dLG8bhx+b1r1Act5QuBtNaMhUeB3OdPnJ71iNLVJrO6oA8AfUrZ6cP8ASK/11T23LP23R7Xm9JB3kb+1aonVa/5SQxyfn4b5urE/Svtu9/S80xpd/RHafcPerGjSDG3W7zJO8kZT2Y4dZVNpB01HTugDsifUlTmVaohFkoax7GD5TgPE4lXNsrX3ucMi4kdk4eShaEZtOqfMaY+k7Yb4SXfZTlaoGiSpYjvKs0iMPwetWcXaTGTjec53aQ0NHaA39peWeHyGnaAm7vIGcbjhjGaQ5AkhDk2UtybchYSUim4fKkDqgnwKK2R8PFIQo8R+1ULhiQQQHNcMiDkfURuIIXujP7RR+sb7bf5p23CG0RvFKf8AU+o4eRCa0V8fT+sYP2gjKPA+t7Xo9lSpRqOm9ReXsg4S6m+mZ47L3KWhCxmAEIQgBCEIDF85DoFH7f3Fz20OIGGZwHad/dn3Lf8AOblQ7X/cXPXnbE7hh27/AAHqV3rl4C6zPGaW85LhyRIsrQDIyaJ8MvOFGqgktOcGY7iPHFSarrrMd+J7BkPf4JFCneGODonymFqOeqnlasG0z4nuBwSrFTi6PmjHuElNEL1hgQPx1JQJ4CXtvEY7UyPMHxkhKqPPROEHzTdDpOnMnA9UCMe2U5aqgLsMcgOuBE+RKgsNuTe9o4nHsAJ9YHen6lLZmcJg+cehTVDF5/RA/aJn0CZjBVJFVouTGIMeIP7kxZBg48XHy2fcnba+60dQLj7vIeaVYqcBoOQGPcJPiixqGtiXXWAzpHpQOLW+gPlKkEbDuAAI6jIHpKhzNRs9bu+MvMnuUusYZ1uPkP5nyULAs3/0bnmr6Ff6TfRy2dhsTKLblMXWlz3xJO1Ue6o84ne9zj34LGc1fQr/AEm+jlu1wr340usj2OjPKw6zYIQhZjcCEIQHzNym0ixlqrtJJOuqTAy23KM1wc0PabzThI4jMEZgqp5Tf2y1f/Iq/wD6OUvQ7S2g4nJ7xd+wHAnxcB3Fa0th04yboPPKiWiztdic+IUoppxQuxFMXW3RlM9p4niq/SDtoDdE/j8b1YOUetTDs0Ia2bBnQ4+GYZgMN8ngG7TvIR3pbz3JVMXQQN+fE9XZ1KPa3YRxP8z+OtSVpTaOUml5huJ4Aie4b+5NFR5jEZ7lZaW+OfxkXo+dA1n7d5AmV1XMDvXtOmXENbiSYHacAvKgxlSLFUDCX/KANwfpEQHHqEz2gIVFaTqA1XXeiIa3sYAwHwEpGiPjqP1jD+2FHcMIUnRJ+GpfWM9oIyrPsFCELGYAQhCAEIQgMLznuws44l/3MVh30xdDhlMY8Vt+dFp/o5B+f/xrDPfgBuH4ld64+DHjzPG6Xp2ufDkhk7R6mnHrOBA7sD4KTeutJO8QOzefd4qO1sGeOY3FFR150HICT44Ds/ktRzkOWQTF4ZnvAOXekvEEhPNN0Xt+73lR6LpJPAxHZmgyApFMS7qb6n9w9pP2kAOwwykcDGITNLAmciZ68gEqTSlUP1zDAOJnuEge9RYxnenKji52XYBwSFUsDzOeKGOIEA4e7h2L2zYkngYHdmfHDuS7eQDP6IJ7YB81AQ2yneyEx6/vSalTCTjH4hSrDTi6DnmT5uPqozzeeO28ewGR5wpaCozovNcyGV+N5vo5blYnmy6Fb6TfRy2y4V88aXWR7DRbrdIcebBCELMdAEIQgOO6U5lX1a1Wr+WNbrKj3xqCYvOLonWYxKlP5oH4BtqYGtENGpdkP/szJknrJXWEK+skfVW01gzizuY+qTJtzZ46h3l8Kp1TmeqODZtjLwEOdqDtcCfhM4wJ3wutoTWSCtprM4lpDmwZRcxlbSVCm6oYY19O6XbsAauOMDvTVLmxpPqmi3SlndWBINMMBeCOkC3WzgtxyroltudUfY32ulVsjKLWNZfaXtrl915ghggtdedhs9SrbFo+sbWWChVaRpV9p1jqbhT1WpuYPIg3nYQOErq2d1hKy+py/wA1ypXnswftuKu9WlcTM6T5radnu/lGk7PSvTd1lMNmImJq4xI8UxauamkKzKT9KWdtV4Fymae0Zyga3Gd3GFtOXeirZWdTjF4strDjRpOLHXm0rtE3i6C+C3OeCr7ToytrK1MWeqDaHWB9IhjyxjaIpiqHvI2CyHYOxM9ZVrK52c7OMnabWnXD7kt26sv0sisrzaGco81dFhdUdpSzllB4FbYADDei4863ZJOGKnjmWfU+EFupuD9oOFAkG9jI+EyMpWkOTVodUtTRQqGlaqlpfU2HDGg+0Ps5yxvl7bvGBC6xyfpltls7XAhwosBBEEEMaCCOMr5X27wsYKUJ1r+sKfKfCgjb2jZyT8xtT/Os/wBh3/Yj8xlT/Os/2D/2LtSFzdZLeX1095xT8xdT/Os/2D/2J2y8yD2PY/8ALWG64OjUHGCDHxi7MhNZIa2e8EIQqHzBCEIAQhCAoOVfJ42sUw2oGXL2bb0zd6xwVEOb0xGvb1HVmfaW8QtEL1awj9MXsMVto+72s3Ocat/l/JgPzdu/zA/2z/EvDzcGQdeJH6s/xLoCFft1vv8AZHy7pun2e7+TAu5vHH/3A/2z/Ekt5uXAyLQJ+rP8S6AhO222/wBkT3TdPt938nMNJclKNnc0Wi30KRdJAqQ0u4kS/FKrcjaQvzbaQDC1r5A2S+LjTt4F0iOMhWvLem8WlrhQrVWusdel8HSc8X3mnca6BAmDiYGCq2cn7Sy12Kk6m51J9KzutFQSWipZW1DBOQvONKDvuldOzrKyjOVpRtN5ZPbTZuXF0KPRl1r/AE938jWj+SdCpVfSp2+hUqibzG3S5obgQQHzgc+sqytHN25xJ/KGgwP7s5gAT0uOKjcnrFWNps7dTWZqbVa6tR76bmMuVDUDA1xG1eLmmBOUrpCzXy1nYzUYyrs/G9rdnSvEtHRd1f8Aj3fyYCjzcloA14gfqzjx+VvSKnNw9zpNob0pPwZxz/S4we5dCQsnbbbf7Inuq6/b7v5MF+b10GK7ZOHxZ7/lfjFMt5tnh0i0Nyg/Bnt+cuhoTtttv5Duq64fR7v5KPkvoI2QPBeHhxEQ0tiJmcTOfkrxCFnnNzl9UsTbZWUbKChBUSBCEKp9AQhCAEIQgBCEIAQhCAEIQgBCEIAQhCAEIQgBCEIAQhCAEIQgBCEIAQhCAEIQgBCEIAQhCAEIQgBCEIAQhCAEIQgBCEID/9k="/>
          <p:cNvSpPr>
            <a:spLocks noChangeAspect="1" noChangeArrowheads="1"/>
          </p:cNvSpPr>
          <p:nvPr/>
        </p:nvSpPr>
        <p:spPr bwMode="auto">
          <a:xfrm>
            <a:off x="1692275" y="-1189038"/>
            <a:ext cx="4762500" cy="2476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l-GR"/>
          </a:p>
        </p:txBody>
      </p:sp>
      <p:sp>
        <p:nvSpPr>
          <p:cNvPr id="9221" name="AutoShape 8" descr="http://img.cmpnet.com/tw/encyclopedia/img/_CDVSDVD.GIF"/>
          <p:cNvSpPr>
            <a:spLocks noChangeAspect="1" noChangeArrowheads="1"/>
          </p:cNvSpPr>
          <p:nvPr/>
        </p:nvSpPr>
        <p:spPr bwMode="auto">
          <a:xfrm>
            <a:off x="1692275" y="-1189038"/>
            <a:ext cx="4762500" cy="2476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l-GR"/>
          </a:p>
        </p:txBody>
      </p:sp>
      <p:sp>
        <p:nvSpPr>
          <p:cNvPr id="92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6A60CD7-040D-4655-B9B6-E8B03057FD31}" type="slidenum">
              <a:rPr lang="el-GR" sz="1400"/>
              <a:pPr eaLnBrk="1" hangingPunct="1"/>
              <a:t>5</a:t>
            </a:fld>
            <a:endParaRPr lang="el-GR" sz="1400"/>
          </a:p>
        </p:txBody>
      </p:sp>
    </p:spTree>
    <p:extLst>
      <p:ext uri="{BB962C8B-B14F-4D97-AF65-F5344CB8AC3E}">
        <p14:creationId xmlns:p14="http://schemas.microsoft.com/office/powerpoint/2010/main" val="284866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ANALOG VS DIGITAL</a:t>
            </a:r>
            <a:endParaRPr lang="el-GR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447800"/>
            <a:ext cx="7772400" cy="4114800"/>
          </a:xfrm>
        </p:spPr>
        <p:txBody>
          <a:bodyPr/>
          <a:lstStyle/>
          <a:p>
            <a:pPr eaLnBrk="1" hangingPunct="1"/>
            <a:r>
              <a:rPr lang="en-US" sz="2400"/>
              <a:t>Analog devices and systems: Process analog signals (time-varying signals that can take any value across a continuous range known as dynamic range)</a:t>
            </a:r>
          </a:p>
          <a:p>
            <a:pPr eaLnBrk="1" hangingPunct="1"/>
            <a:r>
              <a:rPr lang="en-US" sz="2400"/>
              <a:t>Digital devices and systems: Process digital signals (analog signals that are modeled as having at any time one of two discrete values)</a:t>
            </a:r>
            <a:endParaRPr lang="el-GR" sz="240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702050"/>
            <a:ext cx="3962400" cy="27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A710412-F845-4C8A-B201-835B131E3304}" type="slidenum">
              <a:rPr lang="el-GR" sz="1400"/>
              <a:pPr eaLnBrk="1" hangingPunct="1"/>
              <a:t>6</a:t>
            </a:fld>
            <a:endParaRPr lang="el-GR" sz="1400"/>
          </a:p>
        </p:txBody>
      </p:sp>
    </p:spTree>
    <p:extLst>
      <p:ext uri="{BB962C8B-B14F-4D97-AF65-F5344CB8AC3E}">
        <p14:creationId xmlns:p14="http://schemas.microsoft.com/office/powerpoint/2010/main" val="189463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533400"/>
            <a:ext cx="7772400" cy="1143000"/>
          </a:xfrm>
        </p:spPr>
        <p:txBody>
          <a:bodyPr/>
          <a:lstStyle/>
          <a:p>
            <a:r>
              <a:rPr lang="en-US" sz="4000"/>
              <a:t>Example of analog vs digital system</a:t>
            </a:r>
          </a:p>
        </p:txBody>
      </p:sp>
      <p:sp>
        <p:nvSpPr>
          <p:cNvPr id="11267" name="AutoShape 5" descr="Z"/>
          <p:cNvSpPr>
            <a:spLocks noChangeAspect="1" noChangeArrowheads="1"/>
          </p:cNvSpPr>
          <p:nvPr/>
        </p:nvSpPr>
        <p:spPr bwMode="auto">
          <a:xfrm>
            <a:off x="1692275" y="460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l-GR"/>
          </a:p>
        </p:txBody>
      </p:sp>
      <p:sp>
        <p:nvSpPr>
          <p:cNvPr id="11268" name="AutoShape 13" descr="9k=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l-GR"/>
          </a:p>
        </p:txBody>
      </p:sp>
      <p:pic>
        <p:nvPicPr>
          <p:cNvPr id="11269" name="Picture 15" descr="ANd9GcR65xV5XBBjiWmMcSLEKFgssPNzMkKuSIq8S-CGlC46WYFug-zZ4FRd0lX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1" y="4191001"/>
            <a:ext cx="227647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17" descr="ANd9GcRF4IXvRukfrozJF9XDsh-tI5I0QGA2MSNg_XYiZE4ULVPhmk4wg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76400"/>
            <a:ext cx="2133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AutoShape 19" descr="9k=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l-GR"/>
          </a:p>
        </p:txBody>
      </p:sp>
      <p:sp>
        <p:nvSpPr>
          <p:cNvPr id="11272" name="AutoShape 21" descr="9k=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l-GR"/>
          </a:p>
        </p:txBody>
      </p:sp>
      <p:sp>
        <p:nvSpPr>
          <p:cNvPr id="11273" name="AutoShape 23" descr="9k=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l-GR"/>
          </a:p>
        </p:txBody>
      </p:sp>
      <p:pic>
        <p:nvPicPr>
          <p:cNvPr id="11274" name="Picture 25" descr="Ventura-SPARC-MGS-Mechanical-Automatic-Digital-Watc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752600"/>
            <a:ext cx="2057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5" name="Picture 27" descr="ANd9GcQGGtkgmMiXZfFxUYhF3THs1V_8lQ1ZfFcr6FrdtkLPAThEF-sRnmT3W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114800"/>
            <a:ext cx="2362200" cy="21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6" name="Text Box 28"/>
          <p:cNvSpPr txBox="1">
            <a:spLocks noChangeArrowheads="1"/>
          </p:cNvSpPr>
          <p:nvPr/>
        </p:nvSpPr>
        <p:spPr bwMode="auto">
          <a:xfrm>
            <a:off x="8153400" y="1905000"/>
            <a:ext cx="2286000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Digital advantages:</a:t>
            </a:r>
          </a:p>
          <a:p>
            <a:pPr eaLnBrk="1" hangingPunct="1">
              <a:spcBef>
                <a:spcPct val="50000"/>
              </a:spcBef>
            </a:pPr>
            <a:r>
              <a:rPr lang="en-US"/>
              <a:t>Battery life</a:t>
            </a:r>
          </a:p>
          <a:p>
            <a:pPr eaLnBrk="1" hangingPunct="1">
              <a:spcBef>
                <a:spcPct val="50000"/>
              </a:spcBef>
            </a:pPr>
            <a:r>
              <a:rPr lang="en-US"/>
              <a:t>Programmability</a:t>
            </a:r>
          </a:p>
          <a:p>
            <a:pPr eaLnBrk="1" hangingPunct="1">
              <a:spcBef>
                <a:spcPct val="50000"/>
              </a:spcBef>
            </a:pPr>
            <a:r>
              <a:rPr lang="en-US"/>
              <a:t>Accuracy</a:t>
            </a:r>
          </a:p>
        </p:txBody>
      </p:sp>
      <p:sp>
        <p:nvSpPr>
          <p:cNvPr id="11277" name="Slide Number Placeholder 1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4D9A29E-D6E9-441D-B51F-9C5E3913D76B}" type="slidenum">
              <a:rPr lang="el-GR" sz="1400"/>
              <a:pPr eaLnBrk="1" hangingPunct="1"/>
              <a:t>7</a:t>
            </a:fld>
            <a:endParaRPr lang="el-GR" sz="1400"/>
          </a:p>
        </p:txBody>
      </p:sp>
    </p:spTree>
    <p:extLst>
      <p:ext uri="{BB962C8B-B14F-4D97-AF65-F5344CB8AC3E}">
        <p14:creationId xmlns:p14="http://schemas.microsoft.com/office/powerpoint/2010/main" val="30268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world is analog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Few systems like the watch can be completely digital</a:t>
            </a:r>
          </a:p>
          <a:p>
            <a:pPr eaLnBrk="1" hangingPunct="1"/>
            <a:r>
              <a:rPr lang="en-US" smtClean="0"/>
              <a:t>Systems that interact with the environment, need to process analog information</a:t>
            </a:r>
          </a:p>
          <a:p>
            <a:pPr eaLnBrk="1" hangingPunct="1"/>
            <a:r>
              <a:rPr lang="en-US" smtClean="0"/>
              <a:t>How? Analog signals must first be converted to digital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1A12796-4EA9-4088-B913-7E5C568D00AD}" type="slidenum">
              <a:rPr lang="el-GR" sz="1400"/>
              <a:pPr eaLnBrk="1" hangingPunct="1"/>
              <a:t>8</a:t>
            </a:fld>
            <a:endParaRPr lang="el-GR" sz="1400"/>
          </a:p>
        </p:txBody>
      </p:sp>
    </p:spTree>
    <p:extLst>
      <p:ext uri="{BB962C8B-B14F-4D97-AF65-F5344CB8AC3E}">
        <p14:creationId xmlns:p14="http://schemas.microsoft.com/office/powerpoint/2010/main" val="100449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of analog vs digital system</a:t>
            </a:r>
          </a:p>
        </p:txBody>
      </p:sp>
      <p:pic>
        <p:nvPicPr>
          <p:cNvPr id="13315" name="Picture 14" descr="ANd9GcTkq9406PwYkBJX95TOUHlxtiG8ZD89WhJ6tL1ahllzsFeBJaaKLCT9Y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4191000"/>
            <a:ext cx="41116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16" descr="th?id=H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8572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 Box 17"/>
          <p:cNvSpPr txBox="1">
            <a:spLocks noChangeArrowheads="1"/>
          </p:cNvSpPr>
          <p:nvPr/>
        </p:nvSpPr>
        <p:spPr bwMode="auto">
          <a:xfrm>
            <a:off x="2895600" y="22860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Analog</a:t>
            </a:r>
          </a:p>
        </p:txBody>
      </p:sp>
      <p:pic>
        <p:nvPicPr>
          <p:cNvPr id="13318" name="Picture 19" descr="th?id=H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267200"/>
            <a:ext cx="1600200" cy="85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Text Box 20"/>
          <p:cNvSpPr txBox="1">
            <a:spLocks noChangeArrowheads="1"/>
          </p:cNvSpPr>
          <p:nvPr/>
        </p:nvSpPr>
        <p:spPr bwMode="auto">
          <a:xfrm>
            <a:off x="5334000" y="22860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Digital</a:t>
            </a:r>
          </a:p>
        </p:txBody>
      </p:sp>
      <p:pic>
        <p:nvPicPr>
          <p:cNvPr id="13320" name="Picture 21" descr="th?id=H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048000"/>
            <a:ext cx="8572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Text Box 22"/>
          <p:cNvSpPr txBox="1">
            <a:spLocks noChangeArrowheads="1"/>
          </p:cNvSpPr>
          <p:nvPr/>
        </p:nvSpPr>
        <p:spPr bwMode="auto">
          <a:xfrm>
            <a:off x="7620000" y="3352801"/>
            <a:ext cx="1219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/>
              <a:t>A/D 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/>
              <a:t>converter</a:t>
            </a:r>
          </a:p>
        </p:txBody>
      </p:sp>
      <p:sp>
        <p:nvSpPr>
          <p:cNvPr id="13322" name="Line 23"/>
          <p:cNvSpPr>
            <a:spLocks noChangeShapeType="1"/>
          </p:cNvSpPr>
          <p:nvPr/>
        </p:nvSpPr>
        <p:spPr bwMode="auto">
          <a:xfrm>
            <a:off x="7086600" y="4648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3" name="Text Box 24"/>
          <p:cNvSpPr txBox="1">
            <a:spLocks noChangeArrowheads="1"/>
          </p:cNvSpPr>
          <p:nvPr/>
        </p:nvSpPr>
        <p:spPr bwMode="auto">
          <a:xfrm>
            <a:off x="5638800" y="3352801"/>
            <a:ext cx="2057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/>
              <a:t>Temperature sensor (analog)</a:t>
            </a:r>
          </a:p>
        </p:txBody>
      </p:sp>
      <p:sp>
        <p:nvSpPr>
          <p:cNvPr id="13324" name="Text Box 25"/>
          <p:cNvSpPr txBox="1">
            <a:spLocks noChangeArrowheads="1"/>
          </p:cNvSpPr>
          <p:nvPr/>
        </p:nvSpPr>
        <p:spPr bwMode="auto">
          <a:xfrm>
            <a:off x="8915400" y="3352801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/>
              <a:t>Display</a:t>
            </a:r>
          </a:p>
        </p:txBody>
      </p:sp>
      <p:sp>
        <p:nvSpPr>
          <p:cNvPr id="13325" name="Line 26"/>
          <p:cNvSpPr>
            <a:spLocks noChangeShapeType="1"/>
          </p:cNvSpPr>
          <p:nvPr/>
        </p:nvSpPr>
        <p:spPr bwMode="auto">
          <a:xfrm>
            <a:off x="8610600" y="4648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6" name="AutoShape 28" descr="Z"/>
          <p:cNvSpPr>
            <a:spLocks noChangeAspect="1" noChangeArrowheads="1"/>
          </p:cNvSpPr>
          <p:nvPr/>
        </p:nvSpPr>
        <p:spPr bwMode="auto">
          <a:xfrm>
            <a:off x="3819525" y="2805114"/>
            <a:ext cx="4552950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l-GR"/>
          </a:p>
        </p:txBody>
      </p:sp>
      <p:sp>
        <p:nvSpPr>
          <p:cNvPr id="13327" name="AutoShape 34" descr="gFYrXmwuUIvMgAAAABJRU5ErkJggg=="/>
          <p:cNvSpPr>
            <a:spLocks noChangeAspect="1" noChangeArrowheads="1"/>
          </p:cNvSpPr>
          <p:nvPr/>
        </p:nvSpPr>
        <p:spPr bwMode="auto">
          <a:xfrm>
            <a:off x="56388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l-GR"/>
          </a:p>
        </p:txBody>
      </p:sp>
      <p:sp>
        <p:nvSpPr>
          <p:cNvPr id="13328" name="AutoShape 36" descr="gFYrXmwuUIvMgAAAABJRU5ErkJggg=="/>
          <p:cNvSpPr>
            <a:spLocks noChangeAspect="1" noChangeArrowheads="1"/>
          </p:cNvSpPr>
          <p:nvPr/>
        </p:nvSpPr>
        <p:spPr bwMode="auto">
          <a:xfrm>
            <a:off x="56388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l-GR"/>
          </a:p>
        </p:txBody>
      </p:sp>
      <p:pic>
        <p:nvPicPr>
          <p:cNvPr id="13329" name="Picture 38" descr="http://www.fiber-optics.info/assets/glossary/images/A-D_converter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419601"/>
            <a:ext cx="2381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0" name="Picture 40" descr="http://www.andremiller.net/wp-content/uploads/2006/03/7seg_pinouts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1" y="4114800"/>
            <a:ext cx="88106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1" name="Slide Number Placeholder 1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79EA083-95A5-4E38-BF3D-D9B4B12E3D61}" type="slidenum">
              <a:rPr lang="el-GR" sz="1400"/>
              <a:pPr eaLnBrk="1" hangingPunct="1"/>
              <a:t>9</a:t>
            </a:fld>
            <a:endParaRPr lang="el-GR" sz="1400"/>
          </a:p>
        </p:txBody>
      </p:sp>
    </p:spTree>
    <p:extLst>
      <p:ext uri="{BB962C8B-B14F-4D97-AF65-F5344CB8AC3E}">
        <p14:creationId xmlns:p14="http://schemas.microsoft.com/office/powerpoint/2010/main" val="60068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ANALOG GOES DIGITAL</a:t>
            </a:r>
            <a:endParaRPr lang="el-GR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Photography</a:t>
            </a:r>
          </a:p>
          <a:p>
            <a:pPr eaLnBrk="1" hangingPunct="1"/>
            <a:r>
              <a:rPr lang="en-US" dirty="0" smtClean="0"/>
              <a:t>Video</a:t>
            </a:r>
          </a:p>
          <a:p>
            <a:pPr eaLnBrk="1" hangingPunct="1"/>
            <a:r>
              <a:rPr lang="en-US" dirty="0" smtClean="0"/>
              <a:t>Audio</a:t>
            </a:r>
          </a:p>
          <a:p>
            <a:pPr eaLnBrk="1" hangingPunct="1"/>
            <a:r>
              <a:rPr lang="en-US" dirty="0" smtClean="0"/>
              <a:t>Automobile applications</a:t>
            </a:r>
          </a:p>
          <a:p>
            <a:pPr eaLnBrk="1" hangingPunct="1"/>
            <a:r>
              <a:rPr lang="en-US" dirty="0" smtClean="0"/>
              <a:t>Telephony/</a:t>
            </a:r>
            <a:r>
              <a:rPr lang="en-US" dirty="0" err="1" smtClean="0"/>
              <a:t>Telecomunications</a:t>
            </a:r>
            <a:endParaRPr lang="en-US" dirty="0" smtClean="0"/>
          </a:p>
          <a:p>
            <a:pPr eaLnBrk="1" hangingPunct="1"/>
            <a:r>
              <a:rPr lang="en-US" dirty="0" smtClean="0"/>
              <a:t>Traffic lights</a:t>
            </a:r>
          </a:p>
          <a:p>
            <a:pPr eaLnBrk="1" hangingPunct="1"/>
            <a:r>
              <a:rPr lang="en-US" dirty="0" smtClean="0"/>
              <a:t>Special effects</a:t>
            </a:r>
            <a:endParaRPr lang="el-GR" dirty="0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9D11A98-C15D-4A91-AEAB-2E2276B5A527}" type="slidenum">
              <a:rPr lang="el-GR" sz="1400"/>
              <a:pPr eaLnBrk="1" hangingPunct="1"/>
              <a:t>10</a:t>
            </a:fld>
            <a:endParaRPr lang="el-GR" sz="1400"/>
          </a:p>
        </p:txBody>
      </p:sp>
    </p:spTree>
    <p:extLst>
      <p:ext uri="{BB962C8B-B14F-4D97-AF65-F5344CB8AC3E}">
        <p14:creationId xmlns:p14="http://schemas.microsoft.com/office/powerpoint/2010/main" val="14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WHY DIGITAL?</a:t>
            </a:r>
            <a:br>
              <a:rPr lang="en-US" smtClean="0"/>
            </a:br>
            <a:r>
              <a:rPr lang="en-US" smtClean="0"/>
              <a:t>ADVANTAGES OF DIGITAL PROCESSING</a:t>
            </a:r>
            <a:endParaRPr lang="el-GR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2209800"/>
            <a:ext cx="7772400" cy="4114800"/>
          </a:xfrm>
        </p:spPr>
        <p:txBody>
          <a:bodyPr/>
          <a:lstStyle/>
          <a:p>
            <a:pPr eaLnBrk="1" hangingPunct="1"/>
            <a:r>
              <a:rPr lang="en-US" smtClean="0"/>
              <a:t>Reproducibility of results</a:t>
            </a:r>
          </a:p>
          <a:p>
            <a:pPr eaLnBrk="1" hangingPunct="1"/>
            <a:r>
              <a:rPr lang="en-US" smtClean="0"/>
              <a:t>Ease of design</a:t>
            </a:r>
          </a:p>
          <a:p>
            <a:pPr eaLnBrk="1" hangingPunct="1"/>
            <a:r>
              <a:rPr lang="en-US" smtClean="0"/>
              <a:t>Programmability</a:t>
            </a:r>
          </a:p>
          <a:p>
            <a:pPr eaLnBrk="1" hangingPunct="1"/>
            <a:r>
              <a:rPr lang="en-US" smtClean="0"/>
              <a:t>Speed</a:t>
            </a:r>
          </a:p>
          <a:p>
            <a:pPr eaLnBrk="1" hangingPunct="1"/>
            <a:r>
              <a:rPr lang="en-US" smtClean="0"/>
              <a:t>Noise tolerance</a:t>
            </a:r>
            <a:endParaRPr lang="el-GR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D7EB63A-ED1A-4B1E-9251-4D9CCD5B7E4E}" type="slidenum">
              <a:rPr lang="el-GR" sz="1400"/>
              <a:pPr eaLnBrk="1" hangingPunct="1"/>
              <a:t>11</a:t>
            </a:fld>
            <a:endParaRPr lang="el-GR" sz="1400"/>
          </a:p>
        </p:txBody>
      </p:sp>
    </p:spTree>
    <p:extLst>
      <p:ext uri="{BB962C8B-B14F-4D97-AF65-F5344CB8AC3E}">
        <p14:creationId xmlns:p14="http://schemas.microsoft.com/office/powerpoint/2010/main" val="138556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 of Digital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8641"/>
            <a:ext cx="10187829" cy="540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1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Binary digital signal ‐‐ only two </a:t>
            </a:r>
            <a:r>
              <a:rPr lang="en-US" dirty="0" smtClean="0"/>
              <a:t> possible</a:t>
            </a:r>
            <a:r>
              <a:rPr lang="en-US" dirty="0"/>
              <a:t> </a:t>
            </a:r>
            <a:r>
              <a:rPr lang="en-US" dirty="0" smtClean="0"/>
              <a:t>values</a:t>
            </a:r>
          </a:p>
          <a:p>
            <a:pPr lvl="1"/>
            <a:r>
              <a:rPr lang="en-US" dirty="0" smtClean="0"/>
              <a:t>Typically</a:t>
            </a:r>
            <a:r>
              <a:rPr lang="en-US" dirty="0"/>
              <a:t> represented as 0 and 1 O Bi di it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smtClean="0"/>
              <a:t>bit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 One</a:t>
            </a:r>
            <a:r>
              <a:rPr lang="en-US" dirty="0"/>
              <a:t> Binary digit is a bit </a:t>
            </a:r>
          </a:p>
          <a:p>
            <a:pPr lvl="1"/>
            <a:r>
              <a:rPr lang="en-US" dirty="0" smtClean="0"/>
              <a:t>We’ll</a:t>
            </a:r>
            <a:r>
              <a:rPr lang="en-US" dirty="0"/>
              <a:t> only consider binary digital signals </a:t>
            </a:r>
            <a:endParaRPr lang="en-US" dirty="0" smtClean="0"/>
          </a:p>
          <a:p>
            <a:r>
              <a:rPr lang="en-US" dirty="0" smtClean="0"/>
              <a:t>Binary</a:t>
            </a:r>
            <a:r>
              <a:rPr lang="en-US" dirty="0"/>
              <a:t> is popular </a:t>
            </a:r>
            <a:r>
              <a:rPr lang="en-US" dirty="0" smtClean="0"/>
              <a:t>because</a:t>
            </a:r>
          </a:p>
          <a:p>
            <a:pPr lvl="1"/>
            <a:r>
              <a:rPr lang="en-US" dirty="0" smtClean="0"/>
              <a:t> Transistors</a:t>
            </a:r>
            <a:r>
              <a:rPr lang="en-US" dirty="0"/>
              <a:t>, the basic digital electric  component, operate using two </a:t>
            </a:r>
            <a:r>
              <a:rPr lang="en-US" dirty="0" smtClean="0"/>
              <a:t>voltages</a:t>
            </a:r>
          </a:p>
          <a:p>
            <a:pPr lvl="1"/>
            <a:r>
              <a:rPr lang="en-US" dirty="0" smtClean="0"/>
              <a:t>Storing/transmitting</a:t>
            </a:r>
            <a:r>
              <a:rPr lang="en-US" dirty="0"/>
              <a:t> one of two values is  easier than three or more (e.g., loud beep  or quiet beep, reflection or no reflection) </a:t>
            </a:r>
          </a:p>
        </p:txBody>
      </p:sp>
    </p:spTree>
    <p:extLst>
      <p:ext uri="{BB962C8B-B14F-4D97-AF65-F5344CB8AC3E}">
        <p14:creationId xmlns:p14="http://schemas.microsoft.com/office/powerpoint/2010/main" val="461041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 is design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  </a:t>
            </a:r>
            <a:r>
              <a:rPr lang="en-US" dirty="0"/>
              <a:t>Given problem spec solve it with available </a:t>
            </a:r>
            <a:r>
              <a:rPr lang="en-US" dirty="0" smtClean="0"/>
              <a:t>components</a:t>
            </a:r>
          </a:p>
          <a:p>
            <a:pPr lvl="1"/>
            <a:r>
              <a:rPr lang="en-US" dirty="0" smtClean="0"/>
              <a:t>While</a:t>
            </a:r>
            <a:r>
              <a:rPr lang="en-US" dirty="0"/>
              <a:t> meeting quantitative (size, cost, power) and  qualitative (beauty, elegance</a:t>
            </a:r>
            <a:r>
              <a:rPr lang="en-US" dirty="0" smtClean="0"/>
              <a:t>)</a:t>
            </a:r>
          </a:p>
          <a:p>
            <a:r>
              <a:rPr lang="en-US" dirty="0" smtClean="0"/>
              <a:t>What</a:t>
            </a:r>
            <a:r>
              <a:rPr lang="en-US" dirty="0"/>
              <a:t> is logic design? 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Choose</a:t>
            </a:r>
            <a:r>
              <a:rPr lang="en-US" dirty="0"/>
              <a:t> digital logic components to perform specified  control, data manipulation, or communication </a:t>
            </a:r>
            <a:r>
              <a:rPr lang="en-US" dirty="0" smtClean="0"/>
              <a:t>function </a:t>
            </a:r>
            <a:r>
              <a:rPr lang="en-US" dirty="0"/>
              <a:t>and their interconnection </a:t>
            </a:r>
          </a:p>
          <a:p>
            <a:pPr lvl="1"/>
            <a:r>
              <a:rPr lang="en-US" dirty="0" smtClean="0"/>
              <a:t>Which</a:t>
            </a:r>
            <a:r>
              <a:rPr lang="en-US" dirty="0"/>
              <a:t> logic components to choose? Many implementation technologies (fixed‐function   components, programmable devices, individual  transistors 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on</a:t>
            </a:r>
            <a:r>
              <a:rPr lang="en-US" dirty="0"/>
              <a:t> a chip, etc.) </a:t>
            </a:r>
          </a:p>
          <a:p>
            <a:pPr lvl="1"/>
            <a:r>
              <a:rPr lang="en-US" dirty="0" smtClean="0"/>
              <a:t>Design</a:t>
            </a:r>
            <a:r>
              <a:rPr lang="en-US" dirty="0"/>
              <a:t> optimized/transformed to meet design  constraints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043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 Digital Logic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Complicated Circuit (Processor, Memory)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IC (&lt;100)</a:t>
            </a:r>
            <a:r>
              <a:rPr lang="en-US" dirty="0"/>
              <a:t> </a:t>
            </a:r>
            <a:r>
              <a:rPr lang="en-US" dirty="0" smtClean="0"/>
              <a:t>MSI (100-3000),</a:t>
            </a:r>
            <a:r>
              <a:rPr lang="en-US" dirty="0"/>
              <a:t> </a:t>
            </a:r>
            <a:r>
              <a:rPr lang="en-US" dirty="0" smtClean="0"/>
              <a:t>LSI (3000-10</a:t>
            </a:r>
            <a:r>
              <a:rPr lang="en-US" baseline="30000" dirty="0" smtClean="0"/>
              <a:t>5l</a:t>
            </a:r>
            <a:r>
              <a:rPr lang="en-US" dirty="0" smtClean="0"/>
              <a:t>),</a:t>
            </a:r>
            <a:r>
              <a:rPr lang="en-US" dirty="0"/>
              <a:t> </a:t>
            </a:r>
            <a:r>
              <a:rPr lang="en-US" dirty="0" smtClean="0"/>
              <a:t>VLSI (10</a:t>
            </a:r>
            <a:r>
              <a:rPr lang="en-US" baseline="30000" dirty="0" smtClean="0"/>
              <a:t>5</a:t>
            </a:r>
            <a:r>
              <a:rPr lang="en-US" dirty="0" smtClean="0"/>
              <a:t>-10</a:t>
            </a:r>
            <a:r>
              <a:rPr lang="en-US" baseline="30000" dirty="0" smtClean="0"/>
              <a:t>6</a:t>
            </a:r>
            <a:r>
              <a:rPr lang="en-US" dirty="0" smtClean="0"/>
              <a:t>),</a:t>
            </a:r>
            <a:r>
              <a:rPr lang="en-US" dirty="0"/>
              <a:t> </a:t>
            </a:r>
            <a:r>
              <a:rPr lang="en-US" dirty="0" smtClean="0"/>
              <a:t>ULSI (&gt;10</a:t>
            </a:r>
            <a:r>
              <a:rPr lang="en-US" baseline="30000" dirty="0" smtClean="0"/>
              <a:t>6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/>
              <a:t>CAD Tool to accelerate </a:t>
            </a:r>
            <a:endParaRPr lang="en-US" dirty="0" smtClean="0"/>
          </a:p>
          <a:p>
            <a:pPr lvl="1"/>
            <a:r>
              <a:rPr lang="en-US" dirty="0" smtClean="0"/>
              <a:t>Design</a:t>
            </a:r>
            <a:r>
              <a:rPr lang="en-US" dirty="0"/>
              <a:t>, </a:t>
            </a:r>
            <a:r>
              <a:rPr lang="en-US" dirty="0" smtClean="0"/>
              <a:t>Model</a:t>
            </a:r>
            <a:r>
              <a:rPr lang="en-US" dirty="0"/>
              <a:t>, Simulate, Validate, Test </a:t>
            </a:r>
            <a:endParaRPr lang="en-US" dirty="0" smtClean="0"/>
          </a:p>
          <a:p>
            <a:pPr lvl="1"/>
            <a:r>
              <a:rPr lang="en-US" dirty="0" smtClean="0"/>
              <a:t>Placing, Routing, </a:t>
            </a:r>
            <a:r>
              <a:rPr lang="en-US" dirty="0"/>
              <a:t>Power </a:t>
            </a:r>
            <a:r>
              <a:rPr lang="en-US" dirty="0" smtClean="0"/>
              <a:t>distribution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/>
              <a:t>VHDL/Verilog Simulation 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/>
              <a:t>Schematic Editor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/>
              <a:t>Embedded </a:t>
            </a:r>
            <a:r>
              <a:rPr lang="en-US" dirty="0" smtClean="0"/>
              <a:t>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70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355</Words>
  <Application>Microsoft Office PowerPoint</Application>
  <PresentationFormat>Widescreen</PresentationFormat>
  <Paragraphs>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Dasar Sistem Komputer</vt:lpstr>
      <vt:lpstr>Isi</vt:lpstr>
      <vt:lpstr>What is Digital (1/2)</vt:lpstr>
      <vt:lpstr>What is Digital (2/2)</vt:lpstr>
      <vt:lpstr>Okay, what is a signal then?</vt:lpstr>
      <vt:lpstr>ANALOG VS DIGITAL</vt:lpstr>
      <vt:lpstr>Example of analog vs digital system</vt:lpstr>
      <vt:lpstr>The world is analog</vt:lpstr>
      <vt:lpstr>Example of analog vs digital system</vt:lpstr>
      <vt:lpstr>ANALOG GOES DIGITAL</vt:lpstr>
      <vt:lpstr>WHY DIGITAL? ADVANTAGES OF DIGITAL PROCESSING</vt:lpstr>
      <vt:lpstr>Advantage of Digital </vt:lpstr>
      <vt:lpstr>PowerPoint Presentation</vt:lpstr>
      <vt:lpstr>PowerPoint Presentation</vt:lpstr>
      <vt:lpstr>Advance Digital Logic Design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Dasar Sistem Komputer</dc:title>
  <dc:creator>user</dc:creator>
  <cp:lastModifiedBy>user</cp:lastModifiedBy>
  <cp:revision>11</cp:revision>
  <dcterms:created xsi:type="dcterms:W3CDTF">2019-09-09T06:13:42Z</dcterms:created>
  <dcterms:modified xsi:type="dcterms:W3CDTF">2019-09-10T03:42:11Z</dcterms:modified>
</cp:coreProperties>
</file>